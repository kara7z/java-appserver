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1"/>
    <p:sldId id="267" r:id="rId22"/>
    <p:sldId id="268" r:id="rId23"/>
  </p:sldIdLst>
  <p:notesMasterIdLst>
    <p:notesMasterId r:id="rId12"/>
  </p:notesMasterIdLst>
  <p:sldSz cx="12191695" cy="6858000"/>
  <p:notesSz cx="6858000" cy="12191695"/>
  <p:embeddedFontLst>
    <p:embeddedFont>
      <p:font typeface="Andika"/>
      <p:regular r:id="rId201314"/>
    </p:embeddedFont>
    <p:embeddedFont>
      <p:font typeface="Andika Bold"/>
      <p:regular r:id="rId201315"/>
    </p:embeddedFont>
    <p:embeddedFont>
      <p:font typeface="Bitter Bold"/>
      <p:regular r:id="rId201316"/>
    </p:embeddedFont>
    <p:embeddedFont>
      <p:font typeface="Bitter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three servers, three personalities.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World is cute, real apps need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kitchen of a restaurant.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the joke.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paths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Light, nimble, parks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Distributed, and it never sleeps. Pause for the joke.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Scooter, knife, night shift — match the tool to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pizza rule.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9-2.png"/><Relationship Id="rId3" Type="http://schemas.openxmlformats.org/officeDocument/2006/relationships/image" Target="../media/image-7-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6-1.jpeg"/><Relationship Id="rId3" Type="http://schemas.openxmlformats.org/officeDocument/2006/relationships/image" Target="../media/image-8-1.jpeg"/><Relationship Id="rId4" Type="http://schemas.openxmlformats.org/officeDocument/2006/relationships/image" Target="../media/image-10-1.jpe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7-1.png"/><Relationship Id="rId3" Type="http://schemas.openxmlformats.org/officeDocument/2006/relationships/image" Target="../media/image-9-1.png"/><Relationship Id="rId4" Type="http://schemas.openxmlformats.org/officeDocument/2006/relationships/image" Target="../media/image-9-3.pn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457200"/>
            <a:ext cx="5206870" cy="3876576"/>
          </a:xfrm>
          <a:prstGeom prst="rect">
            <a:avLst/>
          </a:prstGeom>
          <a:solidFill>
            <a:srgbClr val="F8F4EC"/>
          </a:solidFill>
          <a:ln w="25399">
            <a:solidFill>
              <a:srgbClr val="1F1B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377" y="787400"/>
            <a:ext cx="439409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spc="-87" kern="100" dirty="0">
                <a:solidFill>
                  <a:srgbClr val="1F1B17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Application Servers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914377" y="2486025"/>
            <a:ext cx="5003675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Tomcat, GlassFish &amp; WildFly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377" y="3049885"/>
            <a:ext cx="4394090" cy="953691"/>
          </a:xfrm>
          <a:prstGeom prst="rect">
            <a:avLst/>
          </a:prstGeom>
          <a:noFill/>
          <a:ln/>
        </p:spPr>
        <p:txBody>
          <a:bodyPr wrap="square" lIns="0" tIns="0" rIns="0" bIns="152396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Three Java servers, three personalities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120007"/>
            <a:ext cx="573519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Why do we need them?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189" y="2798763"/>
            <a:ext cx="5735196" cy="953691"/>
          </a:xfrm>
          <a:prstGeom prst="rect">
            <a:avLst/>
          </a:prstGeom>
          <a:noFill/>
          <a:ln/>
        </p:spPr>
        <p:txBody>
          <a:bodyPr wrap="square" lIns="0" tIns="0" rIns="0" bIns="152396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Real apps need more than a page that says "Hello"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3955653"/>
            <a:ext cx="573519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Today: three Java servers, three personalities.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06663" y="457200"/>
            <a:ext cx="4577045" cy="59436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712" y="476250"/>
            <a:ext cx="4538946" cy="590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457200"/>
            <a:ext cx="4577045" cy="59436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37" y="476250"/>
            <a:ext cx="4538946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310" y="875506"/>
            <a:ext cx="573519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An application server runs your business logic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999310" y="2007592"/>
            <a:ext cx="5735196" cy="1252141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34254" y="2242542"/>
            <a:ext cx="526530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Hosts Java applications and runs the code behind the screen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999310" y="3564533"/>
            <a:ext cx="5735196" cy="1252141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4254" y="3799483"/>
            <a:ext cx="526530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Handles security, transactions, database connections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999310" y="5121473"/>
            <a:ext cx="5735196" cy="861020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34254" y="5356423"/>
            <a:ext cx="5500252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Think: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the kitchen of a restaurant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Web server serves pages; app server cooks them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189" y="1135955"/>
            <a:ext cx="5410065" cy="2335213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8" y="1155005"/>
            <a:ext cx="5371966" cy="22971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3699768"/>
            <a:ext cx="5410065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Web server: the waiter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189" y="4241403"/>
            <a:ext cx="541006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Delivers static files (HTML, images).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324442" y="1135955"/>
            <a:ext cx="5410065" cy="2335213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91" y="1155005"/>
            <a:ext cx="5371966" cy="22971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2" y="3699768"/>
            <a:ext cx="5410065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App server: the chef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324442" y="4241403"/>
            <a:ext cx="541006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Runs code and talks to databases.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189" y="6009680"/>
            <a:ext cx="1173450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waiter never burns the food, 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because he never cooks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.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203200"/>
            <a:ext cx="5206870" cy="2840831"/>
          </a:xfrm>
          <a:prstGeom prst="rect">
            <a:avLst/>
          </a:prstGeom>
          <a:solidFill>
            <a:srgbClr val="F8F4EC"/>
          </a:solidFill>
          <a:ln w="25399">
            <a:solidFill>
              <a:srgbClr val="1F1B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783" y="406400"/>
            <a:ext cx="50544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144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783" y="772716"/>
            <a:ext cx="4444889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b="1" spc="-48" kern="100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Meet the contenders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783" y="2278261"/>
            <a:ext cx="5054474" cy="562570"/>
          </a:xfrm>
          <a:prstGeom prst="rect">
            <a:avLst/>
          </a:prstGeom>
          <a:noFill/>
          <a:ln/>
        </p:spPr>
        <p:txBody>
          <a:bodyPr wrap="none" lIns="0" tIns="0" rIns="0" bIns="152396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Tomcat, GlassFish, WildFly.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148582"/>
            <a:ext cx="612640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Tomcat: small, fast, no fuss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189" y="2827338"/>
            <a:ext cx="6126406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Lightweight servlet container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Supports Servlets and JSP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No EJB, JMS or JPA out of the box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4318198"/>
            <a:ext cx="658359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scooter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of Java servers.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7873" y="457200"/>
            <a:ext cx="4185835" cy="59436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922" y="476250"/>
            <a:ext cx="4147736" cy="590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Tomcat: easy to start, great for simple apps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189" y="2758777"/>
            <a:ext cx="5486263" cy="1793776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33" y="2913063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7916" y="2993727"/>
            <a:ext cx="43305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Strengths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7916" y="3535363"/>
            <a:ext cx="456553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Light, simple, easy to configure.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48244" y="2758777"/>
            <a:ext cx="5486263" cy="1793776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188" y="2913063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68971" y="2993727"/>
            <a:ext cx="43305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Typical use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168971" y="3535363"/>
            <a:ext cx="4330592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Simple apps and dynamic websites.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457200"/>
            <a:ext cx="4577045" cy="59436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37" y="476250"/>
            <a:ext cx="4538946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310" y="1754981"/>
            <a:ext cx="573519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GlassFish: the full Java EE toolbox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99310" y="2887067"/>
            <a:ext cx="5735196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Complete Java EE application server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Servlets, JSP, EJB, JPA, JMS, Web Services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999310" y="4320778"/>
            <a:ext cx="573519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Swiss Army knife 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that comes with a kitchen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GlassFish: standards first, enterprise ready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581547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170" y="1665387"/>
            <a:ext cx="10515337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Administration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— web console or config files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3488928"/>
            <a:ext cx="558786" cy="558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9170" y="3572768"/>
            <a:ext cx="10515337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Strength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— fully compliant with Java EE standards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5396309"/>
            <a:ext cx="558786" cy="558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9170" y="5480149"/>
            <a:ext cx="10515337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Typical use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— enterprise apps needing EJB and full services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457189" y="2808288"/>
            <a:ext cx="11277318" cy="12700"/>
          </a:xfrm>
          <a:prstGeom prst="rect">
            <a:avLst/>
          </a:prstGeom>
          <a:solidFill>
            <a:srgbClr val="D8CFBF"/>
          </a:solidFill>
          <a:ln/>
        </p:spPr>
      </p:sp>
      <p:sp>
        <p:nvSpPr>
          <p:cNvPr id="10" name="Shape 5"/>
          <p:cNvSpPr/>
          <p:nvPr/>
        </p:nvSpPr>
        <p:spPr>
          <a:xfrm>
            <a:off x="457189" y="4715669"/>
            <a:ext cx="11277318" cy="12700"/>
          </a:xfrm>
          <a:prstGeom prst="rect">
            <a:avLst/>
          </a:prstGeom>
          <a:solidFill>
            <a:srgbClr val="D8CFBF"/>
          </a:solidFill>
          <a:ln/>
        </p:spPr>
      </p:sp>
      <p:sp>
        <p:nvSpPr>
          <p:cNvPr id="11" name="Text 6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54981"/>
            <a:ext cx="573519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WildFly: modern and built to scale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189" y="2887067"/>
            <a:ext cx="5735196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Modern Java EE / Jakarta EE server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Full support plus clustering and high availability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4320778"/>
            <a:ext cx="573519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It never sleeps, and 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when one node does, another takes over</a:t>
            </a:r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06663" y="457200"/>
            <a:ext cx="4577045" cy="59436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712" y="476250"/>
            <a:ext cx="4538946" cy="590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5557" y="6522740"/>
            <a:ext cx="66613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189" y="457200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WildFly: fast, flexible, distributed</a:t>
            </a:r>
            <a:endParaRPr lang="en-US" sz="3400" dirty="0"/>
          </a:p>
        </p:txBody>
      </p:sp>
      <p:sp>
        <p:nvSpPr>
          <p:cNvPr id="3" name="Shape"/>
          <p:cNvSpPr/>
          <p:nvPr/>
        </p:nvSpPr>
        <p:spPr>
          <a:xfrm>
            <a:off x="457189" y="2758777"/>
            <a:ext cx="5486263" cy="1793776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  <p:txBody>
          <a:bodyPr/>
          <a:lstStyle/>
          <a:p/>
        </p:txBody>
      </p:sp>
      <p:pic>
        <p:nvPicPr>
          <p:cNvPr id="4" name="Icon strengths" descr="image-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3" y="2913063"/>
            <a:ext cx="507987" cy="508000"/>
          </a:xfrm>
          <a:prstGeom prst="rect">
            <a:avLst/>
          </a:prstGeom>
        </p:spPr>
      </p:pic>
      <p:sp>
        <p:nvSpPr>
          <p:cNvPr id="5" name="Label"/>
          <p:cNvSpPr/>
          <p:nvPr/>
        </p:nvSpPr>
        <p:spPr>
          <a:xfrm>
            <a:off x="1377916" y="2993727"/>
            <a:ext cx="43305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Strengths</a:t>
            </a:r>
            <a:endParaRPr lang="en-US" sz="2600" dirty="0"/>
          </a:p>
        </p:txBody>
      </p:sp>
      <p:sp>
        <p:nvSpPr>
          <p:cNvPr id="6" name="Body"/>
          <p:cNvSpPr/>
          <p:nvPr/>
        </p:nvSpPr>
        <p:spPr>
          <a:xfrm>
            <a:off x="1377916" y="3535363"/>
            <a:ext cx="456553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Fast, flexible, fully distributed.</a:t>
            </a:r>
            <a:endParaRPr lang="en-US" sz="2200" dirty="0"/>
          </a:p>
        </p:txBody>
      </p:sp>
      <p:sp>
        <p:nvSpPr>
          <p:cNvPr id="7" name="Shape"/>
          <p:cNvSpPr/>
          <p:nvPr/>
        </p:nvSpPr>
        <p:spPr>
          <a:xfrm>
            <a:off x="6248244" y="2758777"/>
            <a:ext cx="5486263" cy="1793776"/>
          </a:xfrm>
          <a:prstGeom prst="rect">
            <a:avLst/>
          </a:prstGeom>
          <a:solidFill>
            <a:srgbClr val="FFFDF9"/>
          </a:solidFill>
          <a:ln w="6350">
            <a:solidFill>
              <a:srgbClr val="1F1B17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Icon cluster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188" y="2913063"/>
            <a:ext cx="507987" cy="508000"/>
          </a:xfrm>
          <a:prstGeom prst="rect">
            <a:avLst/>
          </a:prstGeom>
        </p:spPr>
      </p:pic>
      <p:sp>
        <p:nvSpPr>
          <p:cNvPr id="9" name="Label"/>
          <p:cNvSpPr/>
          <p:nvPr/>
        </p:nvSpPr>
        <p:spPr>
          <a:xfrm>
            <a:off x="7168971" y="2993727"/>
            <a:ext cx="43305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Typical use</a:t>
            </a:r>
            <a:endParaRPr lang="en-US" sz="2600" dirty="0"/>
          </a:p>
        </p:txBody>
      </p:sp>
      <p:sp>
        <p:nvSpPr>
          <p:cNvPr id="10" name="Body"/>
          <p:cNvSpPr/>
          <p:nvPr/>
        </p:nvSpPr>
        <p:spPr>
          <a:xfrm>
            <a:off x="7168971" y="3535363"/>
            <a:ext cx="456553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Big clustered systems that never go down.</a:t>
            </a:r>
            <a:endParaRPr lang="en-US" sz="2200" dirty="0"/>
          </a:p>
        </p:txBody>
      </p:sp>
      <p:sp>
        <p:nvSpPr>
          <p:cNvPr id="11" name="Punchline"/>
          <p:cNvSpPr/>
          <p:nvPr/>
        </p:nvSpPr>
        <p:spPr>
          <a:xfrm>
            <a:off x="457189" y="6009680"/>
            <a:ext cx="1173450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It never sleeps — </a:t>
            </a: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so you finally can</a:t>
            </a: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.</a:t>
            </a:r>
            <a:endParaRPr lang="en-US" sz="2200" dirty="0"/>
          </a:p>
        </p:txBody>
      </p:sp>
      <p:sp>
        <p:nvSpPr>
          <p:cNvPr id="12" name="Page number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189" y="457200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Which one should you pick?</a:t>
            </a:r>
            <a:endParaRPr lang="en-US" sz="3400" dirty="0"/>
          </a:p>
        </p:txBody>
      </p:sp>
      <p:sp>
        <p:nvSpPr>
          <p:cNvPr id="3" name="Frame"/>
          <p:cNvSpPr/>
          <p:nvPr/>
        </p:nvSpPr>
        <p:spPr>
          <a:xfrm>
            <a:off x="457189" y="1135955"/>
            <a:ext cx="2077456" cy="29381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  <p:txBody>
          <a:bodyPr/>
          <a:lstStyle/>
          <a:p/>
        </p:txBody>
      </p:sp>
      <p:pic>
        <p:nvPicPr>
          <p:cNvPr id="4" name="Image Tomcat" descr="image-6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39" y="1155005"/>
            <a:ext cx="2039356" cy="2900000"/>
          </a:xfrm>
          <a:prstGeom prst="rect">
            <a:avLst/>
          </a:prstGeom>
        </p:spPr>
      </p:pic>
      <p:sp>
        <p:nvSpPr>
          <p:cNvPr id="5" name="Label"/>
          <p:cNvSpPr/>
          <p:nvPr/>
        </p:nvSpPr>
        <p:spPr>
          <a:xfrm>
            <a:off x="457189" y="4310000"/>
            <a:ext cx="345431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Tomcat</a:t>
            </a:r>
            <a:endParaRPr lang="en-US" sz="2600" dirty="0"/>
          </a:p>
        </p:txBody>
      </p:sp>
      <p:sp>
        <p:nvSpPr>
          <p:cNvPr id="6" name="Body"/>
          <p:cNvSpPr/>
          <p:nvPr/>
        </p:nvSpPr>
        <p:spPr>
          <a:xfrm>
            <a:off x="457189" y="4790000"/>
            <a:ext cx="345431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scooter — light, quick, easy to park.</a:t>
            </a:r>
            <a:endParaRPr lang="en-US" sz="2200" dirty="0"/>
          </a:p>
        </p:txBody>
      </p:sp>
      <p:sp>
        <p:nvSpPr>
          <p:cNvPr id="7" name="Frame"/>
          <p:cNvSpPr/>
          <p:nvPr/>
        </p:nvSpPr>
        <p:spPr>
          <a:xfrm>
            <a:off x="4368691" y="1135955"/>
            <a:ext cx="2268709" cy="29381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Image GlassFish" descr="image-8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741" y="1155005"/>
            <a:ext cx="2230609" cy="2900000"/>
          </a:xfrm>
          <a:prstGeom prst="rect">
            <a:avLst/>
          </a:prstGeom>
        </p:spPr>
      </p:pic>
      <p:sp>
        <p:nvSpPr>
          <p:cNvPr id="9" name="Label"/>
          <p:cNvSpPr/>
          <p:nvPr/>
        </p:nvSpPr>
        <p:spPr>
          <a:xfrm>
            <a:off x="4368691" y="4310000"/>
            <a:ext cx="345431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GlassFish</a:t>
            </a:r>
            <a:endParaRPr lang="en-US" sz="2600" dirty="0"/>
          </a:p>
        </p:txBody>
      </p:sp>
      <p:sp>
        <p:nvSpPr>
          <p:cNvPr id="10" name="Body"/>
          <p:cNvSpPr/>
          <p:nvPr/>
        </p:nvSpPr>
        <p:spPr>
          <a:xfrm>
            <a:off x="4368691" y="4790000"/>
            <a:ext cx="345431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Swiss Army knife — every tool in the box.</a:t>
            </a:r>
            <a:endParaRPr lang="en-US" sz="2200" dirty="0"/>
          </a:p>
        </p:txBody>
      </p:sp>
      <p:sp>
        <p:nvSpPr>
          <p:cNvPr id="11" name="Frame"/>
          <p:cNvSpPr/>
          <p:nvPr/>
        </p:nvSpPr>
        <p:spPr>
          <a:xfrm>
            <a:off x="8280193" y="1135955"/>
            <a:ext cx="2268709" cy="2938100"/>
          </a:xfrm>
          <a:prstGeom prst="rect">
            <a:avLst/>
          </a:prstGeom>
          <a:noFill/>
          <a:ln w="19050">
            <a:solidFill>
              <a:srgbClr val="1F1B17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Image WildFly" descr="image-10-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243" y="1155005"/>
            <a:ext cx="2230609" cy="2900000"/>
          </a:xfrm>
          <a:prstGeom prst="rect">
            <a:avLst/>
          </a:prstGeom>
        </p:spPr>
      </p:pic>
      <p:sp>
        <p:nvSpPr>
          <p:cNvPr id="13" name="Label"/>
          <p:cNvSpPr/>
          <p:nvPr/>
        </p:nvSpPr>
        <p:spPr>
          <a:xfrm>
            <a:off x="8280193" y="4310000"/>
            <a:ext cx="345431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WildFly</a:t>
            </a:r>
            <a:endParaRPr lang="en-US" sz="2600" dirty="0"/>
          </a:p>
        </p:txBody>
      </p:sp>
      <p:sp>
        <p:nvSpPr>
          <p:cNvPr id="14" name="Body"/>
          <p:cNvSpPr/>
          <p:nvPr/>
        </p:nvSpPr>
        <p:spPr>
          <a:xfrm>
            <a:off x="8280193" y="4790000"/>
            <a:ext cx="345431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Never sleeps — for big, always-on loads.</a:t>
            </a:r>
            <a:endParaRPr lang="en-US" sz="2200" dirty="0"/>
          </a:p>
        </p:txBody>
      </p:sp>
      <p:sp>
        <p:nvSpPr>
          <p:cNvPr id="15" name="Punchline"/>
          <p:cNvSpPr/>
          <p:nvPr/>
        </p:nvSpPr>
        <p:spPr>
          <a:xfrm>
            <a:off x="457189" y="6009680"/>
            <a:ext cx="1173450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No best server — </a:t>
            </a: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only the best fit for the job</a:t>
            </a: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.</a:t>
            </a:r>
            <a:endParaRPr lang="en-US" sz="2200" dirty="0"/>
          </a:p>
        </p:txBody>
      </p:sp>
      <p:sp>
        <p:nvSpPr>
          <p:cNvPr id="16" name="Page number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189" y="457200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34" kern="100" dirty="0">
                <a:solidFill>
                  <a:srgbClr val="1F1B17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Key takeaways and questions?</a:t>
            </a:r>
            <a:endParaRPr lang="en-US" sz="3400" dirty="0"/>
          </a:p>
        </p:txBody>
      </p:sp>
      <p:pic>
        <p:nvPicPr>
          <p:cNvPr id="3" name="Icon Tomcat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1416160"/>
            <a:ext cx="558786" cy="558800"/>
          </a:xfrm>
          <a:prstGeom prst="rect">
            <a:avLst/>
          </a:prstGeom>
        </p:spPr>
      </p:pic>
      <p:sp>
        <p:nvSpPr>
          <p:cNvPr id="4" name="Row Tomcat"/>
          <p:cNvSpPr/>
          <p:nvPr/>
        </p:nvSpPr>
        <p:spPr>
          <a:xfrm>
            <a:off x="1219170" y="1500000"/>
            <a:ext cx="10515337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Tomcat</a:t>
            </a: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— small apps and simple sites; light and fast</a:t>
            </a:r>
            <a:endParaRPr lang="en-US" sz="2200" dirty="0"/>
          </a:p>
        </p:txBody>
      </p:sp>
      <p:pic>
        <p:nvPicPr>
          <p:cNvPr id="5" name="Icon GlassFish" descr="image-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766160"/>
            <a:ext cx="558786" cy="558800"/>
          </a:xfrm>
          <a:prstGeom prst="rect">
            <a:avLst/>
          </a:prstGeom>
        </p:spPr>
      </p:pic>
      <p:sp>
        <p:nvSpPr>
          <p:cNvPr id="6" name="Row GlassFish"/>
          <p:cNvSpPr/>
          <p:nvPr/>
        </p:nvSpPr>
        <p:spPr>
          <a:xfrm>
            <a:off x="1219170" y="2850000"/>
            <a:ext cx="10515337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GlassFish</a:t>
            </a: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— the full toolbox when you need every feature</a:t>
            </a:r>
            <a:endParaRPr lang="en-US" sz="2200" dirty="0"/>
          </a:p>
        </p:txBody>
      </p:sp>
      <p:pic>
        <p:nvPicPr>
          <p:cNvPr id="7" name="Icon WildFly" descr="image-9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4116160"/>
            <a:ext cx="558786" cy="558800"/>
          </a:xfrm>
          <a:prstGeom prst="rect">
            <a:avLst/>
          </a:prstGeom>
        </p:spPr>
      </p:pic>
      <p:sp>
        <p:nvSpPr>
          <p:cNvPr id="8" name="Row WildFly"/>
          <p:cNvSpPr/>
          <p:nvPr/>
        </p:nvSpPr>
        <p:spPr>
          <a:xfrm>
            <a:off x="1219170" y="4200000"/>
            <a:ext cx="10515337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WildFly</a:t>
            </a:r>
            <a:r>
              <a:rPr lang="en-US" sz="22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— big clustered systems that never sleep</a:t>
            </a:r>
            <a:endParaRPr lang="en-US" sz="2200" dirty="0"/>
          </a:p>
        </p:txBody>
      </p:sp>
      <p:sp>
        <p:nvSpPr>
          <p:cNvPr id="9" name="Divider 1"/>
          <p:cNvSpPr/>
          <p:nvPr/>
        </p:nvSpPr>
        <p:spPr>
          <a:xfrm>
            <a:off x="457189" y="2175000"/>
            <a:ext cx="11277318" cy="12700"/>
          </a:xfrm>
          <a:prstGeom prst="rect">
            <a:avLst/>
          </a:prstGeom>
          <a:solidFill>
            <a:srgbClr val="D8CFBF"/>
          </a:solidFill>
          <a:ln/>
        </p:spPr>
        <p:txBody>
          <a:bodyPr/>
          <a:lstStyle/>
          <a:p/>
        </p:txBody>
      </p:sp>
      <p:sp>
        <p:nvSpPr>
          <p:cNvPr id="10" name="Divider 2"/>
          <p:cNvSpPr/>
          <p:nvPr/>
        </p:nvSpPr>
        <p:spPr>
          <a:xfrm>
            <a:off x="457189" y="3525000"/>
            <a:ext cx="11277318" cy="12700"/>
          </a:xfrm>
          <a:prstGeom prst="rect">
            <a:avLst/>
          </a:prstGeom>
          <a:solidFill>
            <a:srgbClr val="D8CFBF"/>
          </a:solidFill>
          <a:ln/>
        </p:spPr>
        <p:txBody>
          <a:bodyPr/>
          <a:lstStyle/>
          <a:p/>
        </p:txBody>
      </p:sp>
      <p:sp>
        <p:nvSpPr>
          <p:cNvPr id="11" name="Punchline"/>
          <p:cNvSpPr/>
          <p:nvPr/>
        </p:nvSpPr>
        <p:spPr>
          <a:xfrm>
            <a:off x="457189" y="5480149"/>
            <a:ext cx="1173450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Match the server to the job — </a:t>
            </a:r>
            <a:r>
              <a:rPr lang="en-US" sz="2200" spc="11" kern="100" dirty="0">
                <a:solidFill>
                  <a:srgbClr val="000000"/>
                </a:solidFill>
                <a:highlight>
                  <a:srgbClr val="FFD84A"/>
                </a:highlight>
                <a:latin typeface="Andika" pitchFamily="34" charset="0"/>
                <a:ea typeface="Andika" pitchFamily="34" charset="-122"/>
                <a:cs typeface="Andika" pitchFamily="34" charset="-120"/>
              </a:rPr>
              <a:t>don't use a truck to deliver a pizza</a:t>
            </a: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.</a:t>
            </a:r>
            <a:endParaRPr lang="en-US" sz="2200" dirty="0"/>
          </a:p>
        </p:txBody>
      </p:sp>
      <p:sp>
        <p:nvSpPr>
          <p:cNvPr id="12" name="Prompt"/>
          <p:cNvSpPr/>
          <p:nvPr/>
        </p:nvSpPr>
        <p:spPr>
          <a:xfrm>
            <a:off x="457189" y="6009680"/>
            <a:ext cx="1173450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spc="11" kern="1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Your turn — </a:t>
            </a:r>
            <a:r>
              <a:rPr lang="en-US" sz="2200" b="1" spc="11" kern="100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which one fits your project?</a:t>
            </a:r>
            <a:endParaRPr lang="en-US" sz="2600" dirty="0"/>
          </a:p>
        </p:txBody>
      </p:sp>
      <p:sp>
        <p:nvSpPr>
          <p:cNvPr id="13" name="Page number"/>
          <p:cNvSpPr/>
          <p:nvPr/>
        </p:nvSpPr>
        <p:spPr>
          <a:xfrm>
            <a:off x="11630032" y="6522740"/>
            <a:ext cx="56166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spc="96" kern="100" dirty="0">
                <a:solidFill>
                  <a:srgbClr val="1F4FA8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2026-10-04T18:02:16Z</dcterms:created>
  <dcterms:modified xsi:type="dcterms:W3CDTF">2026-10-04T18:02:16Z</dcterms:modified>
</cp:coreProperties>
</file>